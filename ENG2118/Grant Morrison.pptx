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8" r:id="rId3"/>
    <p:sldId id="259" r:id="rId4"/>
    <p:sldId id="260" r:id="rId5"/>
    <p:sldId id="261" r:id="rId6"/>
    <p:sldId id="262" r:id="rId7"/>
    <p:sldId id="263" r:id="rId8"/>
    <p:sldId id="265" r:id="rId9"/>
    <p:sldId id="264" r:id="rId10"/>
    <p:sldId id="266" r:id="rId11"/>
    <p:sldId id="267" r:id="rId12"/>
    <p:sldId id="268" r:id="rId13"/>
    <p:sldId id="269" r:id="rId14"/>
    <p:sldId id="270" r:id="rId15"/>
    <p:sldId id="271"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0" d="100"/>
          <a:sy n="50" d="100"/>
        </p:scale>
        <p:origin x="-1267" y="-7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overOverlay.png"/>
          <p:cNvPicPr>
            <a:picLocks noChangeAspect="1"/>
          </p:cNvPicPr>
          <p:nvPr/>
        </p:nvPicPr>
        <p:blipFill>
          <a:blip r:embed="rId2" cstate="print"/>
          <a:stretch>
            <a:fillRect/>
          </a:stretch>
        </p:blipFill>
        <p:spPr>
          <a:xfrm>
            <a:off x="0" y="0"/>
            <a:ext cx="9144000" cy="6858000"/>
          </a:xfrm>
          <a:prstGeom prst="rect">
            <a:avLst/>
          </a:prstGeom>
        </p:spPr>
      </p:pic>
      <p:sp>
        <p:nvSpPr>
          <p:cNvPr id="4" name="Date Placeholder 3"/>
          <p:cNvSpPr>
            <a:spLocks noGrp="1"/>
          </p:cNvSpPr>
          <p:nvPr>
            <p:ph type="dt" sz="half" idx="10"/>
          </p:nvPr>
        </p:nvSpPr>
        <p:spPr/>
        <p:txBody>
          <a:bodyPr/>
          <a:lstStyle>
            <a:lvl1pPr>
              <a:defRPr>
                <a:solidFill>
                  <a:schemeClr val="tx2"/>
                </a:solidFill>
              </a:defRPr>
            </a:lvl1pPr>
          </a:lstStyle>
          <a:p>
            <a:fld id="{29FEB652-1189-4495-B397-497CFBA5E2AC}" type="datetimeFigureOut">
              <a:rPr lang="en-CA" smtClean="0"/>
              <a:t>05/10/2015</a:t>
            </a:fld>
            <a:endParaRPr lang="en-CA"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CA"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A9B9D4C9-D309-47FE-ABCC-BA4B2C23CB47}" type="slidenum">
              <a:rPr lang="en-CA" smtClean="0"/>
              <a:t>‹#›</a:t>
            </a:fld>
            <a:endParaRPr lang="en-CA" dirty="0"/>
          </a:p>
        </p:txBody>
      </p:sp>
      <p:grpSp>
        <p:nvGrpSpPr>
          <p:cNvPr id="8" name="Group 7"/>
          <p:cNvGrpSpPr/>
          <p:nvPr/>
        </p:nvGrpSpPr>
        <p:grpSpPr>
          <a:xfrm>
            <a:off x="1194101" y="2887530"/>
            <a:ext cx="6779110" cy="923330"/>
            <a:chOff x="1172584" y="1381459"/>
            <a:chExt cx="6779110" cy="923330"/>
          </a:xfrm>
          <a:effectLst>
            <a:outerShdw blurRad="38100" dist="12700" dir="16200000" rotWithShape="0">
              <a:prstClr val="black">
                <a:alpha val="30000"/>
              </a:prstClr>
            </a:outerShdw>
          </a:effectLst>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rPr>
                <a:t></a:t>
              </a:r>
              <a:endParaRPr lang="en-US" sz="5400" dirty="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293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83341" y="1387737"/>
            <a:ext cx="6777318" cy="1731982"/>
          </a:xfrm>
        </p:spPr>
        <p:txBody>
          <a:bodyPr anchor="b"/>
          <a:lstStyle>
            <a:lvl1pPr>
              <a:defRPr>
                <a:ln w="3175">
                  <a:solidFill>
                    <a:schemeClr val="tx1">
                      <a:alpha val="65000"/>
                    </a:schemeClr>
                  </a:solidFill>
                </a:ln>
                <a:solidFill>
                  <a:schemeClr val="tx1"/>
                </a:solidFill>
                <a:effectLst>
                  <a:outerShdw blurRad="25400" dist="12700" dir="14220000" rotWithShape="0">
                    <a:prstClr val="black">
                      <a:alpha val="50000"/>
                    </a:prstClr>
                  </a:outerShdw>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767862"/>
            <a:ext cx="6400800" cy="1752600"/>
          </a:xfrm>
        </p:spPr>
        <p:txBody>
          <a:bodyPr/>
          <a:lstStyle>
            <a:lvl1pPr marL="0" indent="0" algn="ctr">
              <a:buNone/>
              <a:defRPr>
                <a:solidFill>
                  <a:schemeClr val="tx1"/>
                </a:solidFill>
                <a:effectLst>
                  <a:outerShdw blurRad="34925" dist="12700" dir="14400000" rotWithShape="0">
                    <a:prstClr val="black">
                      <a:alpha val="21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9FEB652-1189-4495-B397-497CFBA5E2AC}" type="datetimeFigureOut">
              <a:rPr lang="en-CA" smtClean="0"/>
              <a:t>05/10/2015</a:t>
            </a:fld>
            <a:endParaRPr lang="en-CA" dirty="0"/>
          </a:p>
        </p:txBody>
      </p:sp>
      <p:sp>
        <p:nvSpPr>
          <p:cNvPr id="5" name="Footer Placeholder 4"/>
          <p:cNvSpPr>
            <a:spLocks noGrp="1"/>
          </p:cNvSpPr>
          <p:nvPr>
            <p:ph type="ftr" sz="quarter" idx="11"/>
          </p:nvPr>
        </p:nvSpPr>
        <p:spPr/>
        <p:txBody>
          <a:bodyPr/>
          <a:lstStyle/>
          <a:p>
            <a:endParaRPr lang="en-CA" dirty="0"/>
          </a:p>
        </p:txBody>
      </p:sp>
      <p:sp>
        <p:nvSpPr>
          <p:cNvPr id="6" name="Slide Number Placeholder 5"/>
          <p:cNvSpPr>
            <a:spLocks noGrp="1"/>
          </p:cNvSpPr>
          <p:nvPr>
            <p:ph type="sldNum" sz="quarter" idx="12"/>
          </p:nvPr>
        </p:nvSpPr>
        <p:spPr/>
        <p:txBody>
          <a:bodyPr/>
          <a:lstStyle/>
          <a:p>
            <a:fld id="{A9B9D4C9-D309-47FE-ABCC-BA4B2C23CB47}" type="slidenum">
              <a:rPr lang="en-CA" smtClean="0"/>
              <a:t>‹#›</a:t>
            </a:fld>
            <a:endParaRPr lang="en-CA" dirty="0"/>
          </a:p>
        </p:txBody>
      </p:sp>
      <p:sp>
        <p:nvSpPr>
          <p:cNvPr id="11" name="Title 10"/>
          <p:cNvSpPr>
            <a:spLocks noGrp="1"/>
          </p:cNvSpPr>
          <p:nvPr>
            <p:ph type="title"/>
          </p:nvPr>
        </p:nvSpPr>
        <p:spPr/>
        <p:txBody>
          <a:bodyPr/>
          <a:lstStyle/>
          <a:p>
            <a:r>
              <a:rPr lang="en-US" smtClean="0"/>
              <a:t>Click to edit Master title style</a:t>
            </a:r>
            <a:endParaRPr lang="en-US"/>
          </a:p>
        </p:txBody>
      </p:sp>
      <p:grpSp>
        <p:nvGrpSpPr>
          <p:cNvPr id="12" name="Group 11"/>
          <p:cNvGrpSpPr/>
          <p:nvPr/>
        </p:nvGrpSpPr>
        <p:grpSpPr>
          <a:xfrm>
            <a:off x="1172584" y="1392217"/>
            <a:ext cx="6779110" cy="923330"/>
            <a:chOff x="1172584" y="1381459"/>
            <a:chExt cx="6779110" cy="923330"/>
          </a:xfrm>
        </p:grpSpPr>
        <p:sp>
          <p:nvSpPr>
            <p:cNvPr id="13" name="TextBox 12"/>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4" name="Straight Connector 13"/>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pic>
        <p:nvPicPr>
          <p:cNvPr id="12" name="Picture 11" descr="CoverOverlay.png"/>
          <p:cNvPicPr>
            <a:picLocks noChangeAspect="1"/>
          </p:cNvPicPr>
          <p:nvPr/>
        </p:nvPicPr>
        <p:blipFill>
          <a:blip r:embed="rId2" cstate="print">
            <a:lum/>
          </a:blip>
          <a:stretch>
            <a:fillRect/>
          </a:stretch>
        </p:blipFill>
        <p:spPr>
          <a:xfrm>
            <a:off x="0" y="0"/>
            <a:ext cx="9144000" cy="6858000"/>
          </a:xfrm>
          <a:prstGeom prst="rect">
            <a:avLst/>
          </a:prstGeom>
        </p:spPr>
      </p:pic>
      <p:grpSp>
        <p:nvGrpSpPr>
          <p:cNvPr id="7" name="Group 7"/>
          <p:cNvGrpSpPr/>
          <p:nvPr/>
        </p:nvGrpSpPr>
        <p:grpSpPr>
          <a:xfrm>
            <a:off x="1172584" y="2887579"/>
            <a:ext cx="6779110" cy="923330"/>
            <a:chOff x="1172584" y="1381459"/>
            <a:chExt cx="6779110" cy="923330"/>
          </a:xfrm>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7412"/>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690040" y="1204857"/>
            <a:ext cx="7754713" cy="1910716"/>
          </a:xfrm>
        </p:spPr>
        <p:txBody>
          <a:bodyPr anchor="b"/>
          <a:lstStyle>
            <a:lvl1pPr algn="ctr">
              <a:defRPr sz="5400" b="0" cap="none"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699248" y="3767316"/>
            <a:ext cx="7734747" cy="1500187"/>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9FEB652-1189-4495-B397-497CFBA5E2AC}" type="datetimeFigureOut">
              <a:rPr lang="en-CA" smtClean="0"/>
              <a:t>05/10/2015</a:t>
            </a:fld>
            <a:endParaRPr lang="en-CA" dirty="0"/>
          </a:p>
        </p:txBody>
      </p:sp>
      <p:sp>
        <p:nvSpPr>
          <p:cNvPr id="5" name="Footer Placeholder 4"/>
          <p:cNvSpPr>
            <a:spLocks noGrp="1"/>
          </p:cNvSpPr>
          <p:nvPr>
            <p:ph type="ftr" sz="quarter" idx="11"/>
          </p:nvPr>
        </p:nvSpPr>
        <p:spPr/>
        <p:txBody>
          <a:bodyPr/>
          <a:lstStyle/>
          <a:p>
            <a:endParaRPr lang="en-CA" dirty="0"/>
          </a:p>
        </p:txBody>
      </p:sp>
      <p:sp>
        <p:nvSpPr>
          <p:cNvPr id="6" name="Slide Number Placeholder 5"/>
          <p:cNvSpPr>
            <a:spLocks noGrp="1"/>
          </p:cNvSpPr>
          <p:nvPr>
            <p:ph type="sldNum" sz="quarter" idx="12"/>
          </p:nvPr>
        </p:nvSpPr>
        <p:spPr/>
        <p:txBody>
          <a:bodyPr/>
          <a:lstStyle/>
          <a:p>
            <a:fld id="{A9B9D4C9-D309-47FE-ABCC-BA4B2C23CB47}" type="slidenum">
              <a:rPr lang="en-CA" smtClean="0"/>
              <a:t>‹#›</a:t>
            </a:fld>
            <a:endParaRPr lang="en-CA"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29FEB652-1189-4495-B397-497CFBA5E2AC}" type="datetimeFigureOut">
              <a:rPr lang="en-CA" smtClean="0"/>
              <a:t>05/10/2015</a:t>
            </a:fld>
            <a:endParaRPr lang="en-CA" dirty="0"/>
          </a:p>
        </p:txBody>
      </p:sp>
      <p:sp>
        <p:nvSpPr>
          <p:cNvPr id="6" name="Footer Placeholder 5"/>
          <p:cNvSpPr>
            <a:spLocks noGrp="1"/>
          </p:cNvSpPr>
          <p:nvPr>
            <p:ph type="ftr" sz="quarter" idx="11"/>
          </p:nvPr>
        </p:nvSpPr>
        <p:spPr/>
        <p:txBody>
          <a:bodyPr/>
          <a:lstStyle/>
          <a:p>
            <a:endParaRPr lang="en-CA" dirty="0"/>
          </a:p>
        </p:txBody>
      </p:sp>
      <p:sp>
        <p:nvSpPr>
          <p:cNvPr id="7" name="Slide Number Placeholder 6"/>
          <p:cNvSpPr>
            <a:spLocks noGrp="1"/>
          </p:cNvSpPr>
          <p:nvPr>
            <p:ph type="sldNum" sz="quarter" idx="12"/>
          </p:nvPr>
        </p:nvSpPr>
        <p:spPr/>
        <p:txBody>
          <a:bodyPr/>
          <a:lstStyle/>
          <a:p>
            <a:fld id="{A9B9D4C9-D309-47FE-ABCC-BA4B2C23CB47}" type="slidenum">
              <a:rPr lang="en-CA" smtClean="0"/>
              <a:t>‹#›</a:t>
            </a:fld>
            <a:endParaRPr lang="en-CA" dirty="0"/>
          </a:p>
        </p:txBody>
      </p:sp>
      <p:sp>
        <p:nvSpPr>
          <p:cNvPr id="12" name="Title 11"/>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grpSp>
        <p:nvGrpSpPr>
          <p:cNvPr id="13" name="Group 12"/>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8" name="Content Placeholder 7"/>
          <p:cNvSpPr>
            <a:spLocks noGrp="1"/>
          </p:cNvSpPr>
          <p:nvPr>
            <p:ph sz="quarter" idx="13"/>
          </p:nvPr>
        </p:nvSpPr>
        <p:spPr>
          <a:xfrm>
            <a:off x="685800" y="2240280"/>
            <a:ext cx="3803904"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9"/>
          <p:cNvSpPr>
            <a:spLocks noGrp="1"/>
          </p:cNvSpPr>
          <p:nvPr>
            <p:ph sz="quarter" idx="14"/>
          </p:nvPr>
        </p:nvSpPr>
        <p:spPr>
          <a:xfrm>
            <a:off x="4645151" y="2240280"/>
            <a:ext cx="3803904"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051560" y="2240280"/>
            <a:ext cx="3442446"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8488" y="2947595"/>
            <a:ext cx="3803904"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02306" y="2240280"/>
            <a:ext cx="3447288"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944368"/>
            <a:ext cx="3799728"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9FEB652-1189-4495-B397-497CFBA5E2AC}" type="datetimeFigureOut">
              <a:rPr lang="en-CA" smtClean="0"/>
              <a:t>05/10/2015</a:t>
            </a:fld>
            <a:endParaRPr lang="en-CA" dirty="0"/>
          </a:p>
        </p:txBody>
      </p:sp>
      <p:sp>
        <p:nvSpPr>
          <p:cNvPr id="8" name="Footer Placeholder 7"/>
          <p:cNvSpPr>
            <a:spLocks noGrp="1"/>
          </p:cNvSpPr>
          <p:nvPr>
            <p:ph type="ftr" sz="quarter" idx="11"/>
          </p:nvPr>
        </p:nvSpPr>
        <p:spPr/>
        <p:txBody>
          <a:bodyPr/>
          <a:lstStyle/>
          <a:p>
            <a:endParaRPr lang="en-CA" dirty="0"/>
          </a:p>
        </p:txBody>
      </p:sp>
      <p:sp>
        <p:nvSpPr>
          <p:cNvPr id="9" name="Slide Number Placeholder 8"/>
          <p:cNvSpPr>
            <a:spLocks noGrp="1"/>
          </p:cNvSpPr>
          <p:nvPr>
            <p:ph type="sldNum" sz="quarter" idx="12"/>
          </p:nvPr>
        </p:nvSpPr>
        <p:spPr/>
        <p:txBody>
          <a:bodyPr/>
          <a:lstStyle/>
          <a:p>
            <a:fld id="{A9B9D4C9-D309-47FE-ABCC-BA4B2C23CB47}" type="slidenum">
              <a:rPr lang="en-CA" smtClean="0"/>
              <a:t>‹#›</a:t>
            </a:fld>
            <a:endParaRPr lang="en-CA" dirty="0"/>
          </a:p>
        </p:txBody>
      </p:sp>
      <p:grpSp>
        <p:nvGrpSpPr>
          <p:cNvPr id="14" name="Group 13"/>
          <p:cNvGrpSpPr/>
          <p:nvPr/>
        </p:nvGrpSpPr>
        <p:grpSpPr>
          <a:xfrm>
            <a:off x="1172584" y="1392217"/>
            <a:ext cx="6779110" cy="923330"/>
            <a:chOff x="1172584" y="1381459"/>
            <a:chExt cx="6779110" cy="923330"/>
          </a:xfrm>
        </p:grpSpPr>
        <p:sp>
          <p:nvSpPr>
            <p:cNvPr id="16" name="TextBox 15"/>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7" name="Straight Connector 16"/>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9FEB652-1189-4495-B397-497CFBA5E2AC}" type="datetimeFigureOut">
              <a:rPr lang="en-CA" smtClean="0"/>
              <a:t>05/10/2015</a:t>
            </a:fld>
            <a:endParaRPr lang="en-CA" dirty="0"/>
          </a:p>
        </p:txBody>
      </p:sp>
      <p:sp>
        <p:nvSpPr>
          <p:cNvPr id="4" name="Footer Placeholder 3"/>
          <p:cNvSpPr>
            <a:spLocks noGrp="1"/>
          </p:cNvSpPr>
          <p:nvPr>
            <p:ph type="ftr" sz="quarter" idx="11"/>
          </p:nvPr>
        </p:nvSpPr>
        <p:spPr/>
        <p:txBody>
          <a:bodyPr/>
          <a:lstStyle/>
          <a:p>
            <a:endParaRPr lang="en-CA" dirty="0"/>
          </a:p>
        </p:txBody>
      </p:sp>
      <p:sp>
        <p:nvSpPr>
          <p:cNvPr id="5" name="Slide Number Placeholder 4"/>
          <p:cNvSpPr>
            <a:spLocks noGrp="1"/>
          </p:cNvSpPr>
          <p:nvPr>
            <p:ph type="sldNum" sz="quarter" idx="12"/>
          </p:nvPr>
        </p:nvSpPr>
        <p:spPr/>
        <p:txBody>
          <a:bodyPr/>
          <a:lstStyle/>
          <a:p>
            <a:fld id="{A9B9D4C9-D309-47FE-ABCC-BA4B2C23CB47}" type="slidenum">
              <a:rPr lang="en-CA" smtClean="0"/>
              <a:t>‹#›</a:t>
            </a:fld>
            <a:endParaRPr lang="en-CA" dirty="0"/>
          </a:p>
        </p:txBody>
      </p:sp>
      <p:grpSp>
        <p:nvGrpSpPr>
          <p:cNvPr id="10" name="Group 9"/>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FEB652-1189-4495-B397-497CFBA5E2AC}" type="datetimeFigureOut">
              <a:rPr lang="en-CA" smtClean="0"/>
              <a:t>05/10/2015</a:t>
            </a:fld>
            <a:endParaRPr lang="en-CA" dirty="0"/>
          </a:p>
        </p:txBody>
      </p:sp>
      <p:sp>
        <p:nvSpPr>
          <p:cNvPr id="3" name="Footer Placeholder 2"/>
          <p:cNvSpPr>
            <a:spLocks noGrp="1"/>
          </p:cNvSpPr>
          <p:nvPr>
            <p:ph type="ftr" sz="quarter" idx="11"/>
          </p:nvPr>
        </p:nvSpPr>
        <p:spPr/>
        <p:txBody>
          <a:bodyPr/>
          <a:lstStyle/>
          <a:p>
            <a:endParaRPr lang="en-CA" dirty="0"/>
          </a:p>
        </p:txBody>
      </p:sp>
      <p:sp>
        <p:nvSpPr>
          <p:cNvPr id="4" name="Slide Number Placeholder 3"/>
          <p:cNvSpPr>
            <a:spLocks noGrp="1"/>
          </p:cNvSpPr>
          <p:nvPr>
            <p:ph type="sldNum" sz="quarter" idx="12"/>
          </p:nvPr>
        </p:nvSpPr>
        <p:spPr/>
        <p:txBody>
          <a:bodyPr/>
          <a:lstStyle/>
          <a:p>
            <a:fld id="{A9B9D4C9-D309-47FE-ABCC-BA4B2C23CB47}" type="slidenum">
              <a:rPr lang="en-CA" smtClean="0"/>
              <a:t>‹#›</a:t>
            </a:fld>
            <a:endParaRPr lang="en-CA"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34579" y="1678195"/>
            <a:ext cx="3422483" cy="1886921"/>
          </a:xfrm>
        </p:spPr>
        <p:txBody>
          <a:bodyPr anchor="b"/>
          <a:lstStyle>
            <a:lvl1pPr algn="l">
              <a:defRPr sz="2800" b="0"/>
            </a:lvl1pPr>
          </a:lstStyle>
          <a:p>
            <a:r>
              <a:rPr lang="en-US" smtClean="0"/>
              <a:t>Click to edit Master title style</a:t>
            </a:r>
            <a:endParaRPr lang="en-US"/>
          </a:p>
        </p:txBody>
      </p:sp>
      <p:sp>
        <p:nvSpPr>
          <p:cNvPr id="3" name="Content Placeholder 2"/>
          <p:cNvSpPr>
            <a:spLocks noGrp="1"/>
          </p:cNvSpPr>
          <p:nvPr>
            <p:ph idx="1"/>
          </p:nvPr>
        </p:nvSpPr>
        <p:spPr>
          <a:xfrm>
            <a:off x="692001" y="559398"/>
            <a:ext cx="4116667" cy="5566765"/>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034579" y="3603812"/>
            <a:ext cx="3411725" cy="2517289"/>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9FEB652-1189-4495-B397-497CFBA5E2AC}" type="datetimeFigureOut">
              <a:rPr lang="en-CA" smtClean="0"/>
              <a:t>05/10/2015</a:t>
            </a:fld>
            <a:endParaRPr lang="en-CA" dirty="0"/>
          </a:p>
        </p:txBody>
      </p:sp>
      <p:sp>
        <p:nvSpPr>
          <p:cNvPr id="6" name="Footer Placeholder 5"/>
          <p:cNvSpPr>
            <a:spLocks noGrp="1"/>
          </p:cNvSpPr>
          <p:nvPr>
            <p:ph type="ftr" sz="quarter" idx="11"/>
          </p:nvPr>
        </p:nvSpPr>
        <p:spPr/>
        <p:txBody>
          <a:bodyPr/>
          <a:lstStyle/>
          <a:p>
            <a:endParaRPr lang="en-CA" dirty="0"/>
          </a:p>
        </p:txBody>
      </p:sp>
      <p:sp>
        <p:nvSpPr>
          <p:cNvPr id="7" name="Slide Number Placeholder 6"/>
          <p:cNvSpPr>
            <a:spLocks noGrp="1"/>
          </p:cNvSpPr>
          <p:nvPr>
            <p:ph type="sldNum" sz="quarter" idx="12"/>
          </p:nvPr>
        </p:nvSpPr>
        <p:spPr/>
        <p:txBody>
          <a:bodyPr/>
          <a:lstStyle/>
          <a:p>
            <a:fld id="{A9B9D4C9-D309-47FE-ABCC-BA4B2C23CB47}" type="slidenum">
              <a:rPr lang="en-CA" smtClean="0"/>
              <a:t>‹#›</a:t>
            </a:fld>
            <a:endParaRPr lang="en-CA"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731" y="4668818"/>
            <a:ext cx="7767021" cy="644729"/>
          </a:xfrm>
        </p:spPr>
        <p:txBody>
          <a:bodyPr anchor="b"/>
          <a:lstStyle>
            <a:lvl1pPr algn="ctr">
              <a:defRPr sz="2800" b="0"/>
            </a:lvl1pPr>
          </a:lstStyle>
          <a:p>
            <a:r>
              <a:rPr lang="en-US" smtClean="0"/>
              <a:t>Click to edit Master title style</a:t>
            </a:r>
            <a:endParaRPr lang="en-US"/>
          </a:p>
        </p:txBody>
      </p:sp>
      <p:sp>
        <p:nvSpPr>
          <p:cNvPr id="3" name="Picture Placeholder 2"/>
          <p:cNvSpPr>
            <a:spLocks noGrp="1"/>
          </p:cNvSpPr>
          <p:nvPr>
            <p:ph type="pic" idx="1"/>
          </p:nvPr>
        </p:nvSpPr>
        <p:spPr>
          <a:xfrm rot="240000">
            <a:off x="2183792" y="666965"/>
            <a:ext cx="4772156" cy="3598016"/>
          </a:xfrm>
          <a:solidFill>
            <a:srgbClr val="FFFFFF">
              <a:shade val="85000"/>
            </a:srgbClr>
          </a:solidFill>
          <a:ln w="190500" cap="sq">
            <a:solidFill>
              <a:srgbClr val="FFFFFF"/>
            </a:solidFill>
            <a:miter lim="800000"/>
          </a:ln>
          <a:effectLst>
            <a:outerShdw blurRad="65000" dist="50800" dir="12900000" kx="195000" ky="145000" algn="tl" rotWithShape="0">
              <a:srgbClr val="000000">
                <a:alpha val="24000"/>
              </a:srgbClr>
            </a:outerShdw>
          </a:effectLst>
          <a:scene3d>
            <a:camera prst="orthographicFront">
              <a:rot lat="0" lon="0" rev="360000"/>
            </a:camera>
            <a:lightRig rig="twoPt" dir="t">
              <a:rot lat="0" lon="0" rev="7200000"/>
            </a:lightRig>
          </a:scene3d>
          <a:sp3d contourW="12700">
            <a:bevelT w="25400" h="19050"/>
            <a:contourClr>
              <a:srgbClr val="969696"/>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688489" y="5324306"/>
            <a:ext cx="7756264" cy="80486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9FEB652-1189-4495-B397-497CFBA5E2AC}" type="datetimeFigureOut">
              <a:rPr lang="en-CA" smtClean="0"/>
              <a:t>05/10/2015</a:t>
            </a:fld>
            <a:endParaRPr lang="en-CA" dirty="0"/>
          </a:p>
        </p:txBody>
      </p:sp>
      <p:sp>
        <p:nvSpPr>
          <p:cNvPr id="6" name="Footer Placeholder 5"/>
          <p:cNvSpPr>
            <a:spLocks noGrp="1"/>
          </p:cNvSpPr>
          <p:nvPr>
            <p:ph type="ftr" sz="quarter" idx="11"/>
          </p:nvPr>
        </p:nvSpPr>
        <p:spPr/>
        <p:txBody>
          <a:bodyPr/>
          <a:lstStyle/>
          <a:p>
            <a:endParaRPr lang="en-CA" dirty="0"/>
          </a:p>
        </p:txBody>
      </p:sp>
      <p:sp>
        <p:nvSpPr>
          <p:cNvPr id="7" name="Slide Number Placeholder 6"/>
          <p:cNvSpPr>
            <a:spLocks noGrp="1"/>
          </p:cNvSpPr>
          <p:nvPr>
            <p:ph type="sldNum" sz="quarter" idx="12"/>
          </p:nvPr>
        </p:nvSpPr>
        <p:spPr/>
        <p:txBody>
          <a:bodyPr/>
          <a:lstStyle/>
          <a:p>
            <a:fld id="{A9B9D4C9-D309-47FE-ABCC-BA4B2C23CB47}" type="slidenum">
              <a:rPr lang="en-CA" smtClean="0"/>
              <a:t>‹#›</a:t>
            </a:fld>
            <a:endParaRPr lang="en-CA"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9FEB652-1189-4495-B397-497CFBA5E2AC}" type="datetimeFigureOut">
              <a:rPr lang="en-CA" smtClean="0"/>
              <a:t>05/10/2015</a:t>
            </a:fld>
            <a:endParaRPr lang="en-CA" dirty="0"/>
          </a:p>
        </p:txBody>
      </p:sp>
      <p:sp>
        <p:nvSpPr>
          <p:cNvPr id="5" name="Footer Placeholder 4"/>
          <p:cNvSpPr>
            <a:spLocks noGrp="1"/>
          </p:cNvSpPr>
          <p:nvPr>
            <p:ph type="ftr" sz="quarter" idx="11"/>
          </p:nvPr>
        </p:nvSpPr>
        <p:spPr/>
        <p:txBody>
          <a:bodyPr/>
          <a:lstStyle/>
          <a:p>
            <a:endParaRPr lang="en-CA" dirty="0"/>
          </a:p>
        </p:txBody>
      </p:sp>
      <p:sp>
        <p:nvSpPr>
          <p:cNvPr id="6" name="Slide Number Placeholder 5"/>
          <p:cNvSpPr>
            <a:spLocks noGrp="1"/>
          </p:cNvSpPr>
          <p:nvPr>
            <p:ph type="sldNum" sz="quarter" idx="12"/>
          </p:nvPr>
        </p:nvSpPr>
        <p:spPr/>
        <p:txBody>
          <a:bodyPr/>
          <a:lstStyle/>
          <a:p>
            <a:fld id="{A9B9D4C9-D309-47FE-ABCC-BA4B2C23CB47}" type="slidenum">
              <a:rPr lang="en-CA" smtClean="0"/>
              <a:t>‹#›</a:t>
            </a:fld>
            <a:endParaRPr lang="en-CA" dirty="0"/>
          </a:p>
        </p:txBody>
      </p:sp>
      <p:grpSp>
        <p:nvGrpSpPr>
          <p:cNvPr id="11" name="Group 10"/>
          <p:cNvGrpSpPr/>
          <p:nvPr/>
        </p:nvGrpSpPr>
        <p:grpSpPr>
          <a:xfrm>
            <a:off x="1172584" y="1392217"/>
            <a:ext cx="6779110" cy="923330"/>
            <a:chOff x="1172584" y="1381459"/>
            <a:chExt cx="6779110" cy="923330"/>
          </a:xfrm>
        </p:grpSpPr>
        <p:sp>
          <p:nvSpPr>
            <p:cNvPr id="15" name="TextBox 14"/>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6" name="Straight Connector 15"/>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6560" y="559398"/>
            <a:ext cx="1678193" cy="556676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8488" y="849854"/>
            <a:ext cx="5507917" cy="502382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9FEB652-1189-4495-B397-497CFBA5E2AC}" type="datetimeFigureOut">
              <a:rPr lang="en-CA" smtClean="0"/>
              <a:t>05/10/2015</a:t>
            </a:fld>
            <a:endParaRPr lang="en-CA" dirty="0"/>
          </a:p>
        </p:txBody>
      </p:sp>
      <p:sp>
        <p:nvSpPr>
          <p:cNvPr id="5" name="Footer Placeholder 4"/>
          <p:cNvSpPr>
            <a:spLocks noGrp="1"/>
          </p:cNvSpPr>
          <p:nvPr>
            <p:ph type="ftr" sz="quarter" idx="11"/>
          </p:nvPr>
        </p:nvSpPr>
        <p:spPr/>
        <p:txBody>
          <a:bodyPr/>
          <a:lstStyle/>
          <a:p>
            <a:endParaRPr lang="en-CA" dirty="0"/>
          </a:p>
        </p:txBody>
      </p:sp>
      <p:sp>
        <p:nvSpPr>
          <p:cNvPr id="6" name="Slide Number Placeholder 5"/>
          <p:cNvSpPr>
            <a:spLocks noGrp="1"/>
          </p:cNvSpPr>
          <p:nvPr>
            <p:ph type="sldNum" sz="quarter" idx="12"/>
          </p:nvPr>
        </p:nvSpPr>
        <p:spPr/>
        <p:txBody>
          <a:bodyPr/>
          <a:lstStyle/>
          <a:p>
            <a:fld id="{A9B9D4C9-D309-47FE-ABCC-BA4B2C23CB47}" type="slidenum">
              <a:rPr lang="en-CA" smtClean="0"/>
              <a:t>‹#›</a:t>
            </a:fld>
            <a:endParaRPr lang="en-CA" dirty="0"/>
          </a:p>
        </p:txBody>
      </p:sp>
      <p:grpSp>
        <p:nvGrpSpPr>
          <p:cNvPr id="11" name="Group 10"/>
          <p:cNvGrpSpPr/>
          <p:nvPr/>
        </p:nvGrpSpPr>
        <p:grpSpPr>
          <a:xfrm rot="5400000">
            <a:off x="3909050" y="2880823"/>
            <a:ext cx="5480154" cy="923330"/>
            <a:chOff x="1815339" y="1381459"/>
            <a:chExt cx="5480154" cy="923330"/>
          </a:xfrm>
        </p:grpSpPr>
        <p:sp>
          <p:nvSpPr>
            <p:cNvPr id="12" name="TextBox 11"/>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3" name="Straight Connector 12"/>
            <p:cNvCxnSpPr/>
            <p:nvPr/>
          </p:nvCxnSpPr>
          <p:spPr>
            <a:xfrm flipH="1" flipV="1">
              <a:off x="1815339" y="1924709"/>
              <a:ext cx="2468880" cy="2505"/>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826613" y="1927417"/>
              <a:ext cx="2468880"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flip="none" rotWithShape="1">
            <a:gsLst>
              <a:gs pos="83000">
                <a:schemeClr val="bg1">
                  <a:alpha val="11000"/>
                </a:schemeClr>
              </a:gs>
              <a:gs pos="100000">
                <a:schemeClr val="bg2">
                  <a:lumMod val="75000"/>
                  <a:alpha val="23000"/>
                </a:schemeClr>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688490" y="570156"/>
            <a:ext cx="7756263" cy="105425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699247" y="2248347"/>
            <a:ext cx="7745505" cy="3877815"/>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360378" y="6161442"/>
            <a:ext cx="2133600" cy="365125"/>
          </a:xfrm>
          <a:prstGeom prst="rect">
            <a:avLst/>
          </a:prstGeom>
        </p:spPr>
        <p:txBody>
          <a:bodyPr vert="horz" lIns="91440" tIns="45720" rIns="91440" bIns="45720" rtlCol="0" anchor="ctr"/>
          <a:lstStyle>
            <a:lvl1pPr algn="l">
              <a:defRPr sz="1200">
                <a:solidFill>
                  <a:schemeClr val="tx2"/>
                </a:solidFill>
              </a:defRPr>
            </a:lvl1pPr>
          </a:lstStyle>
          <a:p>
            <a:fld id="{29FEB652-1189-4495-B397-497CFBA5E2AC}" type="datetimeFigureOut">
              <a:rPr lang="en-CA" smtClean="0"/>
              <a:t>05/10/2015</a:t>
            </a:fld>
            <a:endParaRPr lang="en-CA" dirty="0"/>
          </a:p>
        </p:txBody>
      </p:sp>
      <p:sp>
        <p:nvSpPr>
          <p:cNvPr id="5" name="Footer Placeholder 4"/>
          <p:cNvSpPr>
            <a:spLocks noGrp="1"/>
          </p:cNvSpPr>
          <p:nvPr>
            <p:ph type="ftr" sz="quarter" idx="3"/>
          </p:nvPr>
        </p:nvSpPr>
        <p:spPr>
          <a:xfrm>
            <a:off x="3124200" y="6161442"/>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n-CA" dirty="0"/>
          </a:p>
        </p:txBody>
      </p:sp>
      <p:sp>
        <p:nvSpPr>
          <p:cNvPr id="6" name="Slide Number Placeholder 5"/>
          <p:cNvSpPr>
            <a:spLocks noGrp="1"/>
          </p:cNvSpPr>
          <p:nvPr>
            <p:ph type="sldNum" sz="quarter" idx="4"/>
          </p:nvPr>
        </p:nvSpPr>
        <p:spPr>
          <a:xfrm>
            <a:off x="6639264" y="6161442"/>
            <a:ext cx="2133600" cy="365125"/>
          </a:xfrm>
          <a:prstGeom prst="rect">
            <a:avLst/>
          </a:prstGeom>
        </p:spPr>
        <p:txBody>
          <a:bodyPr vert="horz" lIns="91440" tIns="45720" rIns="91440" bIns="45720" rtlCol="0" anchor="ctr"/>
          <a:lstStyle>
            <a:lvl1pPr algn="r">
              <a:defRPr sz="1200">
                <a:solidFill>
                  <a:schemeClr val="tx2"/>
                </a:solidFill>
              </a:defRPr>
            </a:lvl1pPr>
          </a:lstStyle>
          <a:p>
            <a:fld id="{A9B9D4C9-D309-47FE-ABCC-BA4B2C23CB47}" type="slidenum">
              <a:rPr lang="en-CA" smtClean="0"/>
              <a:t>‹#›</a:t>
            </a:fld>
            <a:endParaRPr lang="en-CA"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hyperlink" Target="https://www.youtube.com/watch?v=KV_S-nfgLq8"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CA" dirty="0" smtClean="0"/>
              <a:t>Grant Morrison</a:t>
            </a:r>
            <a:endParaRPr lang="en-CA" dirty="0"/>
          </a:p>
        </p:txBody>
      </p:sp>
      <p:sp>
        <p:nvSpPr>
          <p:cNvPr id="3" name="Subtitle 2"/>
          <p:cNvSpPr>
            <a:spLocks noGrp="1"/>
          </p:cNvSpPr>
          <p:nvPr>
            <p:ph type="subTitle" idx="1"/>
          </p:nvPr>
        </p:nvSpPr>
        <p:spPr/>
        <p:txBody>
          <a:bodyPr/>
          <a:lstStyle/>
          <a:p>
            <a:r>
              <a:rPr lang="en-CA" dirty="0"/>
              <a:t> </a:t>
            </a:r>
            <a:r>
              <a:rPr lang="en-CA" dirty="0" smtClean="0"/>
              <a:t>A Playful Man on Precarious Earth</a:t>
            </a:r>
            <a:endParaRPr lang="en-CA" dirty="0"/>
          </a:p>
        </p:txBody>
      </p:sp>
    </p:spTree>
    <p:extLst>
      <p:ext uri="{BB962C8B-B14F-4D97-AF65-F5344CB8AC3E}">
        <p14:creationId xmlns:p14="http://schemas.microsoft.com/office/powerpoint/2010/main" val="24158762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76056" y="116633"/>
            <a:ext cx="3422483" cy="720080"/>
          </a:xfrm>
        </p:spPr>
        <p:txBody>
          <a:bodyPr/>
          <a:lstStyle/>
          <a:p>
            <a:pPr algn="ctr"/>
            <a:r>
              <a:rPr lang="en-CA" sz="2400" dirty="0" smtClean="0"/>
              <a:t>Chaos Magician Grant</a:t>
            </a:r>
            <a:endParaRPr lang="en-CA" sz="2400"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2150" y="597365"/>
            <a:ext cx="4116388" cy="5490232"/>
          </a:xfrm>
        </p:spPr>
      </p:pic>
      <p:sp>
        <p:nvSpPr>
          <p:cNvPr id="4" name="Text Placeholder 3"/>
          <p:cNvSpPr>
            <a:spLocks noGrp="1"/>
          </p:cNvSpPr>
          <p:nvPr>
            <p:ph type="body" sz="half" idx="2"/>
          </p:nvPr>
        </p:nvSpPr>
        <p:spPr>
          <a:xfrm>
            <a:off x="5076056" y="1268760"/>
            <a:ext cx="3298240" cy="4852341"/>
          </a:xfrm>
        </p:spPr>
        <p:txBody>
          <a:bodyPr>
            <a:noAutofit/>
          </a:bodyPr>
          <a:lstStyle/>
          <a:p>
            <a:r>
              <a:rPr lang="en-CA" sz="2000" i="1" dirty="0">
                <a:solidFill>
                  <a:srgbClr val="895D1D"/>
                </a:solidFill>
                <a:ea typeface="+mj-ea"/>
                <a:cs typeface="+mj-cs"/>
              </a:rPr>
              <a:t>Your head’s </a:t>
            </a:r>
            <a:r>
              <a:rPr lang="en-CA" sz="2000" i="1" dirty="0" smtClean="0">
                <a:solidFill>
                  <a:srgbClr val="895D1D"/>
                </a:solidFill>
                <a:ea typeface="+mj-ea"/>
                <a:cs typeface="+mj-cs"/>
              </a:rPr>
              <a:t>like mine</a:t>
            </a:r>
            <a:r>
              <a:rPr lang="en-CA" sz="2000" i="1" dirty="0">
                <a:solidFill>
                  <a:srgbClr val="895D1D"/>
                </a:solidFill>
                <a:ea typeface="+mj-ea"/>
                <a:cs typeface="+mj-cs"/>
              </a:rPr>
              <a:t>, like all our heads; big enough to contain every god and devil there ever was. Big enough to hold the weight of oceans and the turning stars</a:t>
            </a:r>
            <a:r>
              <a:rPr lang="en-CA" sz="2000" i="1" dirty="0" smtClean="0">
                <a:solidFill>
                  <a:srgbClr val="895D1D"/>
                </a:solidFill>
                <a:ea typeface="+mj-ea"/>
                <a:cs typeface="+mj-cs"/>
              </a:rPr>
              <a:t>. Whole universes fit in there! But what do we choose to keep in this miraculous cabinet? Little broken things, sad trinkets that we play with over and over. The world turns our key and we play the same little tune again and again and we think that tune’s all we are</a:t>
            </a:r>
            <a:r>
              <a:rPr lang="en-CA" sz="2000" dirty="0" smtClean="0">
                <a:solidFill>
                  <a:srgbClr val="895D1D"/>
                </a:solidFill>
                <a:ea typeface="+mj-ea"/>
                <a:cs typeface="+mj-cs"/>
              </a:rPr>
              <a:t> (Revolution 93).</a:t>
            </a:r>
            <a:endParaRPr lang="en-CA" sz="2000" dirty="0"/>
          </a:p>
        </p:txBody>
      </p:sp>
    </p:spTree>
    <p:extLst>
      <p:ext uri="{BB962C8B-B14F-4D97-AF65-F5344CB8AC3E}">
        <p14:creationId xmlns:p14="http://schemas.microsoft.com/office/powerpoint/2010/main" val="728069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CA" dirty="0" smtClean="0">
                <a:hlinkClick r:id="rId2"/>
              </a:rPr>
              <a:t>https://www.youtube.com/watch?v=KV_S-nfgLq8</a:t>
            </a:r>
            <a:endParaRPr lang="en-CA" dirty="0"/>
          </a:p>
        </p:txBody>
      </p:sp>
      <p:sp>
        <p:nvSpPr>
          <p:cNvPr id="3" name="Title 2"/>
          <p:cNvSpPr>
            <a:spLocks noGrp="1"/>
          </p:cNvSpPr>
          <p:nvPr>
            <p:ph type="title"/>
          </p:nvPr>
        </p:nvSpPr>
        <p:spPr/>
        <p:txBody>
          <a:bodyPr/>
          <a:lstStyle/>
          <a:p>
            <a:r>
              <a:rPr lang="en-CA" dirty="0" smtClean="0"/>
              <a:t>Morrison at Disinfo.con</a:t>
            </a:r>
            <a:br>
              <a:rPr lang="en-CA" dirty="0" smtClean="0"/>
            </a:br>
            <a:r>
              <a:rPr lang="en-CA" dirty="0" smtClean="0"/>
              <a:t>New York</a:t>
            </a:r>
            <a:endParaRPr lang="en-CA" dirty="0"/>
          </a:p>
        </p:txBody>
      </p:sp>
    </p:spTree>
    <p:extLst>
      <p:ext uri="{BB962C8B-B14F-4D97-AF65-F5344CB8AC3E}">
        <p14:creationId xmlns:p14="http://schemas.microsoft.com/office/powerpoint/2010/main" val="25513633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CA" dirty="0" smtClean="0"/>
              <a:t>Born in 1960 to activist parents in Glasgow (Singer  9-10)</a:t>
            </a:r>
          </a:p>
          <a:p>
            <a:r>
              <a:rPr lang="en-CA" dirty="0" smtClean="0"/>
              <a:t>Bohemian household, would accompany father  to photograph missile bases and bomb shelters (Singer 9-10)</a:t>
            </a:r>
          </a:p>
          <a:p>
            <a:r>
              <a:rPr lang="en-CA" dirty="0" smtClean="0"/>
              <a:t>Parents and uncle introduced Morrison to comics and occultism (Singer 9-10; </a:t>
            </a:r>
            <a:r>
              <a:rPr lang="en-CA" dirty="0" smtClean="0"/>
              <a:t>Supergods</a:t>
            </a:r>
            <a:r>
              <a:rPr lang="en-CA" dirty="0" smtClean="0"/>
              <a:t> 177-178)</a:t>
            </a:r>
          </a:p>
          <a:p>
            <a:r>
              <a:rPr lang="en-CA" dirty="0" smtClean="0"/>
              <a:t>At nineteen received Crowley’s Thoth tarot deck and decided to become a magician</a:t>
            </a:r>
          </a:p>
          <a:p>
            <a:pPr marL="0" indent="0">
              <a:buNone/>
            </a:pPr>
            <a:endParaRPr lang="en-CA" dirty="0"/>
          </a:p>
        </p:txBody>
      </p:sp>
      <p:sp>
        <p:nvSpPr>
          <p:cNvPr id="3" name="Title 2"/>
          <p:cNvSpPr>
            <a:spLocks noGrp="1"/>
          </p:cNvSpPr>
          <p:nvPr>
            <p:ph type="title"/>
          </p:nvPr>
        </p:nvSpPr>
        <p:spPr/>
        <p:txBody>
          <a:bodyPr/>
          <a:lstStyle/>
          <a:p>
            <a:r>
              <a:rPr lang="en-CA" dirty="0" smtClean="0"/>
              <a:t>A Little Background</a:t>
            </a:r>
            <a:endParaRPr lang="en-CA" dirty="0"/>
          </a:p>
        </p:txBody>
      </p:sp>
    </p:spTree>
    <p:extLst>
      <p:ext uri="{BB962C8B-B14F-4D97-AF65-F5344CB8AC3E}">
        <p14:creationId xmlns:p14="http://schemas.microsoft.com/office/powerpoint/2010/main" val="2254978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CA" dirty="0"/>
              <a:t>C</a:t>
            </a:r>
            <a:r>
              <a:rPr lang="en-CA" dirty="0" smtClean="0"/>
              <a:t>arl Jung (Swiss psychiatrist) </a:t>
            </a:r>
          </a:p>
          <a:p>
            <a:r>
              <a:rPr lang="en-CA" dirty="0" smtClean="0"/>
              <a:t> Aleister  Crowley, Austin Osman Spare (early twentieth century English artists and occultists)</a:t>
            </a:r>
          </a:p>
          <a:p>
            <a:r>
              <a:rPr lang="en-CA" dirty="0" smtClean="0"/>
              <a:t>Punk movement of the mid-1970s</a:t>
            </a:r>
          </a:p>
          <a:p>
            <a:r>
              <a:rPr lang="en-CA" dirty="0" smtClean="0"/>
              <a:t>1960s pop and psychedelia </a:t>
            </a:r>
          </a:p>
          <a:p>
            <a:r>
              <a:rPr lang="en-CA" dirty="0" smtClean="0"/>
              <a:t>1960s British television series (</a:t>
            </a:r>
            <a:r>
              <a:rPr lang="en-CA" i="1" dirty="0" smtClean="0"/>
              <a:t>Doctor Who, The Prisoner, The Avengers</a:t>
            </a:r>
            <a:r>
              <a:rPr lang="en-CA" dirty="0" smtClean="0"/>
              <a:t>) </a:t>
            </a:r>
          </a:p>
          <a:p>
            <a:r>
              <a:rPr lang="en-CA" dirty="0" smtClean="0"/>
              <a:t>The Romantics, the Decadents, the beats</a:t>
            </a:r>
          </a:p>
          <a:p>
            <a:r>
              <a:rPr lang="en-CA" dirty="0" smtClean="0"/>
              <a:t>Fantasy (Michael Moorcock) Science Fiction (Philip K. Dick) </a:t>
            </a:r>
            <a:endParaRPr lang="en-CA" dirty="0"/>
          </a:p>
        </p:txBody>
      </p:sp>
      <p:sp>
        <p:nvSpPr>
          <p:cNvPr id="3" name="Title 2"/>
          <p:cNvSpPr>
            <a:spLocks noGrp="1"/>
          </p:cNvSpPr>
          <p:nvPr>
            <p:ph type="title"/>
          </p:nvPr>
        </p:nvSpPr>
        <p:spPr/>
        <p:txBody>
          <a:bodyPr/>
          <a:lstStyle/>
          <a:p>
            <a:r>
              <a:rPr lang="en-CA" dirty="0" smtClean="0"/>
              <a:t>Inspiration</a:t>
            </a:r>
            <a:endParaRPr lang="en-CA" dirty="0"/>
          </a:p>
        </p:txBody>
      </p:sp>
    </p:spTree>
    <p:extLst>
      <p:ext uri="{BB962C8B-B14F-4D97-AF65-F5344CB8AC3E}">
        <p14:creationId xmlns:p14="http://schemas.microsoft.com/office/powerpoint/2010/main" val="2210841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CA" dirty="0" smtClean="0"/>
              <a:t>Mixes chaos </a:t>
            </a:r>
            <a:r>
              <a:rPr lang="en-CA" dirty="0" smtClean="0"/>
              <a:t>magick</a:t>
            </a:r>
            <a:r>
              <a:rPr lang="en-CA" dirty="0" smtClean="0"/>
              <a:t>, pop culture, the avant-garde</a:t>
            </a:r>
            <a:r>
              <a:rPr lang="en-CA" dirty="0"/>
              <a:t> </a:t>
            </a:r>
            <a:r>
              <a:rPr lang="en-CA" dirty="0" smtClean="0"/>
              <a:t>and comic book continuity</a:t>
            </a:r>
          </a:p>
          <a:p>
            <a:r>
              <a:rPr lang="en-CA" dirty="0" smtClean="0"/>
              <a:t>Uses postmodern techniques and the comic book’s status as a pulp medium to question assumptions about authority, art</a:t>
            </a:r>
            <a:r>
              <a:rPr lang="en-CA" dirty="0"/>
              <a:t> </a:t>
            </a:r>
            <a:r>
              <a:rPr lang="en-CA" dirty="0" smtClean="0"/>
              <a:t>and identity:</a:t>
            </a:r>
          </a:p>
          <a:p>
            <a:pPr marL="0" indent="0">
              <a:buNone/>
            </a:pPr>
            <a:r>
              <a:rPr lang="en-CA" dirty="0" smtClean="0"/>
              <a:t>“…’postmodernism’ would seem to designate art forms that are fundamentally self-reflexive-in other words, art that is self-consciously art (or artifice), literature that is openly aware of the fact that it is written and read as part of a particular culture, having as much to do with the literary past as with the social present” (Hutcheon 1)</a:t>
            </a:r>
          </a:p>
          <a:p>
            <a:endParaRPr lang="en-CA" dirty="0"/>
          </a:p>
        </p:txBody>
      </p:sp>
      <p:sp>
        <p:nvSpPr>
          <p:cNvPr id="3" name="Title 2"/>
          <p:cNvSpPr>
            <a:spLocks noGrp="1"/>
          </p:cNvSpPr>
          <p:nvPr>
            <p:ph type="title"/>
          </p:nvPr>
        </p:nvSpPr>
        <p:spPr/>
        <p:txBody>
          <a:bodyPr/>
          <a:lstStyle/>
          <a:p>
            <a:r>
              <a:rPr lang="en-CA" dirty="0" smtClean="0"/>
              <a:t>Process</a:t>
            </a:r>
            <a:endParaRPr lang="en-CA" dirty="0"/>
          </a:p>
        </p:txBody>
      </p:sp>
    </p:spTree>
    <p:extLst>
      <p:ext uri="{BB962C8B-B14F-4D97-AF65-F5344CB8AC3E}">
        <p14:creationId xmlns:p14="http://schemas.microsoft.com/office/powerpoint/2010/main" val="2151644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CA" dirty="0" smtClean="0"/>
              <a:t>Morrison seeks to challenge and entertain</a:t>
            </a:r>
          </a:p>
          <a:p>
            <a:r>
              <a:rPr lang="en-CA" dirty="0" smtClean="0"/>
              <a:t>He wants to explore the limits of the comic book medium and he wants to expand the consciousness of his readership</a:t>
            </a:r>
          </a:p>
          <a:p>
            <a:r>
              <a:rPr lang="en-CA" dirty="0" smtClean="0"/>
              <a:t>He playfully engages in a masquerade: “…he has played the part of the young radical, the team player, the company man, the revisionist, the nostalgist, the postmodernist, the magical guru, the drug user, the straight-edger, the public speaker who lectures corporations on branding, and the countercultural icon who appears in music videos”(Singer 4). </a:t>
            </a:r>
            <a:endParaRPr lang="en-CA" dirty="0"/>
          </a:p>
        </p:txBody>
      </p:sp>
      <p:sp>
        <p:nvSpPr>
          <p:cNvPr id="3" name="Title 2"/>
          <p:cNvSpPr>
            <a:spLocks noGrp="1"/>
          </p:cNvSpPr>
          <p:nvPr>
            <p:ph type="title"/>
          </p:nvPr>
        </p:nvSpPr>
        <p:spPr/>
        <p:txBody>
          <a:bodyPr/>
          <a:lstStyle/>
          <a:p>
            <a:r>
              <a:rPr lang="en-CA" dirty="0" smtClean="0"/>
              <a:t>Intent</a:t>
            </a:r>
            <a:endParaRPr lang="en-CA" dirty="0"/>
          </a:p>
        </p:txBody>
      </p:sp>
    </p:spTree>
    <p:extLst>
      <p:ext uri="{BB962C8B-B14F-4D97-AF65-F5344CB8AC3E}">
        <p14:creationId xmlns:p14="http://schemas.microsoft.com/office/powerpoint/2010/main" val="783735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CA" dirty="0" smtClean="0"/>
              <a:t>Began in England in the late 1970s as a reaction to the rigidity of English occultism (Hine 15)</a:t>
            </a:r>
          </a:p>
          <a:p>
            <a:r>
              <a:rPr lang="en-CA" dirty="0" smtClean="0"/>
              <a:t>Austin Osman Spare’s development of sigil magic combined with Aleister Crowley’s magickal world view were essential to chaos magic’s development (Hine 15-16)</a:t>
            </a:r>
          </a:p>
          <a:p>
            <a:r>
              <a:rPr lang="en-CA" dirty="0" smtClean="0"/>
              <a:t>Peter J. Carroll’s </a:t>
            </a:r>
            <a:r>
              <a:rPr lang="en-CA" i="1" dirty="0" smtClean="0"/>
              <a:t>Liber Null  </a:t>
            </a:r>
            <a:r>
              <a:rPr lang="en-CA" dirty="0" smtClean="0"/>
              <a:t>and Ray Sherwin’s </a:t>
            </a:r>
            <a:r>
              <a:rPr lang="en-CA" i="1" dirty="0" smtClean="0"/>
              <a:t>The Book of Results </a:t>
            </a:r>
            <a:r>
              <a:rPr lang="en-CA" dirty="0" smtClean="0"/>
              <a:t>are seminal texts in the development of chaos magic as a system (Hine 15)</a:t>
            </a:r>
          </a:p>
          <a:p>
            <a:r>
              <a:rPr lang="en-CA" dirty="0" smtClean="0"/>
              <a:t> “…the actual methods of magic are basically shared by the different systems, despite the differing symbols, beliefs and dogmas”(Hine 17).</a:t>
            </a:r>
          </a:p>
          <a:p>
            <a:pPr marL="0" indent="0">
              <a:buNone/>
            </a:pPr>
            <a:endParaRPr lang="en-CA" dirty="0"/>
          </a:p>
        </p:txBody>
      </p:sp>
      <p:sp>
        <p:nvSpPr>
          <p:cNvPr id="3" name="Title 2"/>
          <p:cNvSpPr>
            <a:spLocks noGrp="1"/>
          </p:cNvSpPr>
          <p:nvPr>
            <p:ph type="title"/>
          </p:nvPr>
        </p:nvSpPr>
        <p:spPr/>
        <p:txBody>
          <a:bodyPr/>
          <a:lstStyle/>
          <a:p>
            <a:r>
              <a:rPr lang="en-CA" dirty="0" smtClean="0"/>
              <a:t>Chaos Magic Roots</a:t>
            </a:r>
            <a:endParaRPr lang="en-CA" dirty="0"/>
          </a:p>
        </p:txBody>
      </p:sp>
    </p:spTree>
    <p:extLst>
      <p:ext uri="{BB962C8B-B14F-4D97-AF65-F5344CB8AC3E}">
        <p14:creationId xmlns:p14="http://schemas.microsoft.com/office/powerpoint/2010/main" val="8275298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CA" dirty="0" smtClean="0"/>
              <a:t>Avoidance of Dogmatism-rejection of binaries and absolutes, celebration of play</a:t>
            </a:r>
          </a:p>
          <a:p>
            <a:r>
              <a:rPr lang="en-CA" dirty="0" smtClean="0"/>
              <a:t>Personal Experience-DIY!</a:t>
            </a:r>
          </a:p>
          <a:p>
            <a:r>
              <a:rPr lang="en-CA" dirty="0" smtClean="0"/>
              <a:t>Technical Excellence-develop a set of skills, practise, practise, practise!</a:t>
            </a:r>
          </a:p>
          <a:p>
            <a:r>
              <a:rPr lang="en-CA" dirty="0" smtClean="0"/>
              <a:t>Deconditioning- “…the aspiring magician is to thoroughly decondition hirself (sic) from the mesh of beliefs, attitudes and fictions about self, society, and the world…the ego is a fiction” (Hine 14). </a:t>
            </a:r>
          </a:p>
          <a:p>
            <a:r>
              <a:rPr lang="en-CA" dirty="0" smtClean="0"/>
              <a:t>Diverse Approaches-use whatever system works but don’t rely on only one</a:t>
            </a:r>
          </a:p>
          <a:p>
            <a:pPr marL="0" indent="0">
              <a:buNone/>
            </a:pPr>
            <a:r>
              <a:rPr lang="en-CA" dirty="0"/>
              <a:t>	</a:t>
            </a:r>
            <a:r>
              <a:rPr lang="en-CA" dirty="0" smtClean="0"/>
              <a:t>			(Hine 13-14)</a:t>
            </a:r>
          </a:p>
        </p:txBody>
      </p:sp>
      <p:sp>
        <p:nvSpPr>
          <p:cNvPr id="3" name="Title 2"/>
          <p:cNvSpPr>
            <a:spLocks noGrp="1"/>
          </p:cNvSpPr>
          <p:nvPr>
            <p:ph type="title"/>
          </p:nvPr>
        </p:nvSpPr>
        <p:spPr/>
        <p:txBody>
          <a:bodyPr/>
          <a:lstStyle/>
          <a:p>
            <a:r>
              <a:rPr lang="en-CA" dirty="0" smtClean="0"/>
              <a:t>Five Principles of Chaos Magic</a:t>
            </a:r>
            <a:endParaRPr lang="en-CA" dirty="0"/>
          </a:p>
        </p:txBody>
      </p:sp>
    </p:spTree>
    <p:extLst>
      <p:ext uri="{BB962C8B-B14F-4D97-AF65-F5344CB8AC3E}">
        <p14:creationId xmlns:p14="http://schemas.microsoft.com/office/powerpoint/2010/main" val="11840669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CA" dirty="0" smtClean="0"/>
              <a:t>Released December 1989 shortly after Tim Burton’s first Batman film</a:t>
            </a:r>
          </a:p>
          <a:p>
            <a:r>
              <a:rPr lang="en-CA" dirty="0" smtClean="0"/>
              <a:t>Sales were excellent</a:t>
            </a:r>
          </a:p>
          <a:p>
            <a:r>
              <a:rPr lang="en-CA" dirty="0" smtClean="0"/>
              <a:t>Meant o be a critique of the hyperrealist depictions of Batman in Miller’s </a:t>
            </a:r>
            <a:r>
              <a:rPr lang="en-CA" i="1" dirty="0" smtClean="0"/>
              <a:t>The Dark Knight Returns,</a:t>
            </a:r>
            <a:r>
              <a:rPr lang="en-CA" dirty="0" smtClean="0"/>
              <a:t> and Moore and </a:t>
            </a:r>
            <a:r>
              <a:rPr lang="en-CA" dirty="0" smtClean="0"/>
              <a:t>Bolland’s</a:t>
            </a:r>
            <a:r>
              <a:rPr lang="en-CA" dirty="0" smtClean="0"/>
              <a:t> </a:t>
            </a:r>
            <a:r>
              <a:rPr lang="en-CA" i="1" dirty="0" smtClean="0"/>
              <a:t>The Killing Joke </a:t>
            </a:r>
            <a:r>
              <a:rPr lang="en-CA" dirty="0" smtClean="0"/>
              <a:t>(Singer 64)</a:t>
            </a:r>
          </a:p>
          <a:p>
            <a:pPr marL="0" indent="0">
              <a:buNone/>
            </a:pPr>
            <a:endParaRPr lang="en-CA" dirty="0"/>
          </a:p>
        </p:txBody>
      </p:sp>
      <p:sp>
        <p:nvSpPr>
          <p:cNvPr id="3" name="Title 2"/>
          <p:cNvSpPr>
            <a:spLocks noGrp="1"/>
          </p:cNvSpPr>
          <p:nvPr>
            <p:ph type="title"/>
          </p:nvPr>
        </p:nvSpPr>
        <p:spPr/>
        <p:txBody>
          <a:bodyPr/>
          <a:lstStyle/>
          <a:p>
            <a:r>
              <a:rPr lang="en-CA" dirty="0" smtClean="0"/>
              <a:t>Arkham Asylum</a:t>
            </a:r>
            <a:endParaRPr lang="en-CA" dirty="0"/>
          </a:p>
        </p:txBody>
      </p:sp>
    </p:spTree>
    <p:extLst>
      <p:ext uri="{BB962C8B-B14F-4D97-AF65-F5344CB8AC3E}">
        <p14:creationId xmlns:p14="http://schemas.microsoft.com/office/powerpoint/2010/main" val="9305028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CA" dirty="0"/>
              <a:t>Critics accused Morrison of writing “the most pretentious Batman book ever.”(Hasted 67 </a:t>
            </a:r>
            <a:r>
              <a:rPr lang="en-CA" dirty="0"/>
              <a:t>qtd</a:t>
            </a:r>
            <a:r>
              <a:rPr lang="en-CA" dirty="0"/>
              <a:t>. in Singer 64)</a:t>
            </a:r>
          </a:p>
          <a:p>
            <a:r>
              <a:rPr lang="en-CA" dirty="0"/>
              <a:t>Some critics claimed that McKean’s and Morrison’s symbol systems clashed (Singer 71)</a:t>
            </a:r>
          </a:p>
          <a:p>
            <a:r>
              <a:rPr lang="en-CA" dirty="0"/>
              <a:t>Although Moore praised McKean’s work, he referred to end product as a “gilded turd” (</a:t>
            </a:r>
            <a:r>
              <a:rPr lang="en-CA" dirty="0"/>
              <a:t>Supergods</a:t>
            </a:r>
            <a:r>
              <a:rPr lang="en-CA" dirty="0"/>
              <a:t> 228)</a:t>
            </a:r>
          </a:p>
          <a:p>
            <a:endParaRPr lang="en-CA" dirty="0"/>
          </a:p>
        </p:txBody>
      </p:sp>
      <p:sp>
        <p:nvSpPr>
          <p:cNvPr id="3" name="Title 2"/>
          <p:cNvSpPr>
            <a:spLocks noGrp="1"/>
          </p:cNvSpPr>
          <p:nvPr>
            <p:ph type="title"/>
          </p:nvPr>
        </p:nvSpPr>
        <p:spPr/>
        <p:txBody>
          <a:bodyPr/>
          <a:lstStyle/>
          <a:p>
            <a:r>
              <a:rPr lang="en-CA" dirty="0"/>
              <a:t>R</a:t>
            </a:r>
            <a:r>
              <a:rPr lang="en-CA" dirty="0" smtClean="0"/>
              <a:t>eception</a:t>
            </a:r>
            <a:endParaRPr lang="en-CA" dirty="0"/>
          </a:p>
        </p:txBody>
      </p:sp>
    </p:spTree>
    <p:extLst>
      <p:ext uri="{BB962C8B-B14F-4D97-AF65-F5344CB8AC3E}">
        <p14:creationId xmlns:p14="http://schemas.microsoft.com/office/powerpoint/2010/main" val="35231575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CA" dirty="0" smtClean="0"/>
              <a:t>Avoidance of dogmatism: play of various symbol systems and comic book conventions</a:t>
            </a:r>
          </a:p>
          <a:p>
            <a:r>
              <a:rPr lang="en-CA" dirty="0" smtClean="0"/>
              <a:t>Personal experience: Morrison claims to have drawn from his own childhood fears “Tunnel of Love”</a:t>
            </a:r>
          </a:p>
          <a:p>
            <a:r>
              <a:rPr lang="en-CA" dirty="0" smtClean="0"/>
              <a:t>Technical Excellence: Morrison attempts to “make his mark” with the publication of </a:t>
            </a:r>
            <a:r>
              <a:rPr lang="en-CA" i="1" dirty="0" smtClean="0"/>
              <a:t>Arkham Asylum </a:t>
            </a:r>
            <a:r>
              <a:rPr lang="en-CA" dirty="0" smtClean="0"/>
              <a:t>(</a:t>
            </a:r>
            <a:r>
              <a:rPr lang="en-CA" dirty="0" smtClean="0"/>
              <a:t>Supergods</a:t>
            </a:r>
            <a:r>
              <a:rPr lang="en-CA" dirty="0" smtClean="0"/>
              <a:t> 225).</a:t>
            </a:r>
          </a:p>
          <a:p>
            <a:r>
              <a:rPr lang="en-CA" dirty="0" smtClean="0"/>
              <a:t>Both Morrison and McKean brought in numerous references from outside Superhero comic medium</a:t>
            </a:r>
          </a:p>
          <a:p>
            <a:r>
              <a:rPr lang="en-CA" dirty="0"/>
              <a:t>I</a:t>
            </a:r>
            <a:r>
              <a:rPr lang="en-CA" dirty="0" smtClean="0"/>
              <a:t>dea of comic auteurism:  “The creator of a comic…is its author, and comics produced under the sole or chief creative control of a single person of significant skill are more likely to be good” (</a:t>
            </a:r>
            <a:r>
              <a:rPr lang="en-CA" dirty="0" smtClean="0"/>
              <a:t>Wolk</a:t>
            </a:r>
            <a:r>
              <a:rPr lang="en-CA" dirty="0" smtClean="0"/>
              <a:t> 31). </a:t>
            </a:r>
          </a:p>
          <a:p>
            <a:pPr marL="0" indent="0">
              <a:buNone/>
            </a:pPr>
            <a:endParaRPr lang="en-CA" dirty="0" smtClean="0"/>
          </a:p>
          <a:p>
            <a:endParaRPr lang="en-CA" dirty="0" smtClean="0"/>
          </a:p>
          <a:p>
            <a:endParaRPr lang="en-CA" dirty="0"/>
          </a:p>
        </p:txBody>
      </p:sp>
      <p:sp>
        <p:nvSpPr>
          <p:cNvPr id="3" name="Title 2"/>
          <p:cNvSpPr>
            <a:spLocks noGrp="1"/>
          </p:cNvSpPr>
          <p:nvPr>
            <p:ph type="title"/>
          </p:nvPr>
        </p:nvSpPr>
        <p:spPr/>
        <p:txBody>
          <a:bodyPr/>
          <a:lstStyle/>
          <a:p>
            <a:r>
              <a:rPr lang="en-CA" i="1" dirty="0" smtClean="0"/>
              <a:t>Arkham Asylum</a:t>
            </a:r>
            <a:r>
              <a:rPr lang="en-CA" dirty="0" smtClean="0"/>
              <a:t> and Chaos Magic?</a:t>
            </a:r>
            <a:endParaRPr lang="en-CA" dirty="0"/>
          </a:p>
        </p:txBody>
      </p:sp>
    </p:spTree>
    <p:extLst>
      <p:ext uri="{BB962C8B-B14F-4D97-AF65-F5344CB8AC3E}">
        <p14:creationId xmlns:p14="http://schemas.microsoft.com/office/powerpoint/2010/main" val="21783009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CA" dirty="0" smtClean="0"/>
              <a:t>Deconditioning: Is this the batman we know and love? </a:t>
            </a:r>
          </a:p>
          <a:p>
            <a:r>
              <a:rPr lang="en-CA" dirty="0" smtClean="0"/>
              <a:t>What does the Joker represent? Is he a hero? Is he a monster? Is he a He? </a:t>
            </a:r>
          </a:p>
          <a:p>
            <a:r>
              <a:rPr lang="en-CA" dirty="0" smtClean="0"/>
              <a:t>How does the Joker break the fourth wall and look into our world?</a:t>
            </a:r>
          </a:p>
          <a:p>
            <a:r>
              <a:rPr lang="en-CA" dirty="0" smtClean="0"/>
              <a:t>Diverse Approaches: How does the text play with linearity? How does it destabilise and re-establish binaries?</a:t>
            </a:r>
          </a:p>
          <a:p>
            <a:endParaRPr lang="en-CA" dirty="0" smtClean="0"/>
          </a:p>
          <a:p>
            <a:endParaRPr lang="en-CA" dirty="0"/>
          </a:p>
        </p:txBody>
      </p:sp>
      <p:sp>
        <p:nvSpPr>
          <p:cNvPr id="3" name="Title 2"/>
          <p:cNvSpPr>
            <a:spLocks noGrp="1"/>
          </p:cNvSpPr>
          <p:nvPr>
            <p:ph type="title"/>
          </p:nvPr>
        </p:nvSpPr>
        <p:spPr/>
        <p:txBody>
          <a:bodyPr/>
          <a:lstStyle/>
          <a:p>
            <a:r>
              <a:rPr lang="en-CA" dirty="0" smtClean="0"/>
              <a:t>More Chaos</a:t>
            </a:r>
            <a:endParaRPr lang="en-CA" dirty="0"/>
          </a:p>
        </p:txBody>
      </p:sp>
    </p:spTree>
    <p:extLst>
      <p:ext uri="{BB962C8B-B14F-4D97-AF65-F5344CB8AC3E}">
        <p14:creationId xmlns:p14="http://schemas.microsoft.com/office/powerpoint/2010/main" val="1629436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457200">
              <a:buNone/>
            </a:pPr>
            <a:r>
              <a:rPr lang="en-CA" dirty="0" smtClean="0"/>
              <a:t>Hine, Phil. </a:t>
            </a:r>
            <a:r>
              <a:rPr lang="en-CA" i="1" dirty="0" smtClean="0"/>
              <a:t>Condensed Chaos: An Introduction to Chaos  	Magic. </a:t>
            </a:r>
            <a:r>
              <a:rPr lang="en-CA" dirty="0" smtClean="0"/>
              <a:t>Tempe: New </a:t>
            </a:r>
            <a:r>
              <a:rPr lang="en-CA" dirty="0"/>
              <a:t>F</a:t>
            </a:r>
            <a:r>
              <a:rPr lang="en-CA" dirty="0" smtClean="0"/>
              <a:t>alcon Publications, 1995. 	Print</a:t>
            </a:r>
            <a:r>
              <a:rPr lang="en-CA" i="1" dirty="0" smtClean="0"/>
              <a:t>.</a:t>
            </a:r>
          </a:p>
          <a:p>
            <a:pPr marL="0" indent="-457200">
              <a:buNone/>
            </a:pPr>
            <a:r>
              <a:rPr lang="en-CA" dirty="0" smtClean="0"/>
              <a:t>Hutcheon, Linda. </a:t>
            </a:r>
            <a:r>
              <a:rPr lang="en-CA" i="1" dirty="0" smtClean="0"/>
              <a:t>The Canadian Postmodern: A Study in</a:t>
            </a:r>
          </a:p>
          <a:p>
            <a:pPr marL="0" indent="-457200">
              <a:buNone/>
            </a:pPr>
            <a:r>
              <a:rPr lang="en-CA" i="1" dirty="0"/>
              <a:t>	</a:t>
            </a:r>
            <a:r>
              <a:rPr lang="en-CA" i="1" dirty="0" smtClean="0"/>
              <a:t>Contemporary English-Canadian Fiction. </a:t>
            </a:r>
            <a:r>
              <a:rPr lang="en-CA" dirty="0" smtClean="0"/>
              <a:t>Toronto:</a:t>
            </a:r>
          </a:p>
          <a:p>
            <a:pPr marL="0" indent="-457200">
              <a:buNone/>
            </a:pPr>
            <a:r>
              <a:rPr lang="en-CA" dirty="0"/>
              <a:t>	</a:t>
            </a:r>
            <a:r>
              <a:rPr lang="en-CA" dirty="0" smtClean="0"/>
              <a:t>Oxford, 1988. Print.</a:t>
            </a:r>
          </a:p>
          <a:p>
            <a:pPr marL="0" indent="-457200">
              <a:buNone/>
            </a:pPr>
            <a:r>
              <a:rPr lang="en-CA" dirty="0" smtClean="0"/>
              <a:t>Morrison, Grant and Dave McKean. </a:t>
            </a:r>
            <a:r>
              <a:rPr lang="en-CA" i="1" dirty="0" smtClean="0"/>
              <a:t>Batman Arkham </a:t>
            </a:r>
          </a:p>
          <a:p>
            <a:pPr marL="0" indent="-457200">
              <a:buNone/>
            </a:pPr>
            <a:r>
              <a:rPr lang="en-CA" i="1" dirty="0"/>
              <a:t>	</a:t>
            </a:r>
            <a:r>
              <a:rPr lang="en-CA" i="1" dirty="0" smtClean="0"/>
              <a:t>Asylum: A Serious House on Serious Earth. </a:t>
            </a:r>
            <a:r>
              <a:rPr lang="en-CA" dirty="0" smtClean="0"/>
              <a:t>New</a:t>
            </a:r>
          </a:p>
          <a:p>
            <a:pPr marL="0" indent="-457200">
              <a:buNone/>
            </a:pPr>
            <a:r>
              <a:rPr lang="en-CA" dirty="0"/>
              <a:t>	</a:t>
            </a:r>
            <a:r>
              <a:rPr lang="en-CA" dirty="0" smtClean="0"/>
              <a:t>York: DC Comics, 2004. Print</a:t>
            </a:r>
          </a:p>
        </p:txBody>
      </p:sp>
      <p:sp>
        <p:nvSpPr>
          <p:cNvPr id="3" name="Title 2"/>
          <p:cNvSpPr>
            <a:spLocks noGrp="1"/>
          </p:cNvSpPr>
          <p:nvPr>
            <p:ph type="title"/>
          </p:nvPr>
        </p:nvSpPr>
        <p:spPr/>
        <p:txBody>
          <a:bodyPr/>
          <a:lstStyle/>
          <a:p>
            <a:r>
              <a:rPr lang="en-CA" dirty="0" smtClean="0"/>
              <a:t>Works Cited</a:t>
            </a:r>
            <a:endParaRPr lang="en-CA" dirty="0"/>
          </a:p>
        </p:txBody>
      </p:sp>
    </p:spTree>
    <p:extLst>
      <p:ext uri="{BB962C8B-B14F-4D97-AF65-F5344CB8AC3E}">
        <p14:creationId xmlns:p14="http://schemas.microsoft.com/office/powerpoint/2010/main" val="25769136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457200">
              <a:buNone/>
            </a:pPr>
            <a:r>
              <a:rPr lang="en-CA" dirty="0"/>
              <a:t>Morrison, Grant. </a:t>
            </a:r>
            <a:r>
              <a:rPr lang="en-CA" i="1" dirty="0"/>
              <a:t>Supergods</a:t>
            </a:r>
            <a:r>
              <a:rPr lang="en-CA" i="1" dirty="0"/>
              <a:t>. </a:t>
            </a:r>
            <a:r>
              <a:rPr lang="en-CA" dirty="0"/>
              <a:t>New York: Spiegel &amp; </a:t>
            </a:r>
            <a:r>
              <a:rPr lang="en-CA" dirty="0"/>
              <a:t>Grau</a:t>
            </a:r>
            <a:r>
              <a:rPr lang="en-CA" dirty="0"/>
              <a:t>, </a:t>
            </a:r>
          </a:p>
          <a:p>
            <a:pPr marL="0" indent="-457200">
              <a:buNone/>
            </a:pPr>
            <a:r>
              <a:rPr lang="en-CA" dirty="0" smtClean="0"/>
              <a:t>	2011. Print</a:t>
            </a:r>
          </a:p>
          <a:p>
            <a:pPr marL="0" indent="-457200">
              <a:buNone/>
            </a:pPr>
            <a:r>
              <a:rPr lang="en-CA" dirty="0" smtClean="0"/>
              <a:t>Singer, Marc. </a:t>
            </a:r>
            <a:r>
              <a:rPr lang="en-CA" i="1" dirty="0" smtClean="0"/>
              <a:t>Grant Morrison: Combining the Worlds of </a:t>
            </a:r>
          </a:p>
          <a:p>
            <a:pPr marL="0" indent="-457200">
              <a:buNone/>
            </a:pPr>
            <a:r>
              <a:rPr lang="en-CA" i="1" dirty="0"/>
              <a:t>	</a:t>
            </a:r>
            <a:r>
              <a:rPr lang="en-CA" i="1" dirty="0" smtClean="0"/>
              <a:t>Contemporary Comics.</a:t>
            </a:r>
            <a:r>
              <a:rPr lang="en-CA" dirty="0" smtClean="0"/>
              <a:t> Jackson: University Press</a:t>
            </a:r>
          </a:p>
          <a:p>
            <a:pPr marL="0" indent="-457200">
              <a:buNone/>
            </a:pPr>
            <a:r>
              <a:rPr lang="en-CA" dirty="0"/>
              <a:t>	</a:t>
            </a:r>
            <a:r>
              <a:rPr lang="en-CA" dirty="0" smtClean="0"/>
              <a:t>of Mississippi, 2012. Print</a:t>
            </a:r>
          </a:p>
          <a:p>
            <a:pPr marL="0" indent="-457200">
              <a:buNone/>
            </a:pPr>
            <a:r>
              <a:rPr lang="en-CA" dirty="0" smtClean="0"/>
              <a:t>Wolk</a:t>
            </a:r>
            <a:r>
              <a:rPr lang="en-CA" dirty="0" smtClean="0"/>
              <a:t>, Douglas. </a:t>
            </a:r>
            <a:r>
              <a:rPr lang="en-CA" i="1" dirty="0" smtClean="0"/>
              <a:t>Reading Comics: How Graphic Novels</a:t>
            </a:r>
          </a:p>
          <a:p>
            <a:pPr marL="0" indent="-457200">
              <a:buNone/>
            </a:pPr>
            <a:r>
              <a:rPr lang="en-CA" i="1" dirty="0"/>
              <a:t>	</a:t>
            </a:r>
            <a:r>
              <a:rPr lang="en-CA" i="1" dirty="0" smtClean="0"/>
              <a:t>Work and What They Mean. </a:t>
            </a:r>
            <a:r>
              <a:rPr lang="en-CA" dirty="0" smtClean="0"/>
              <a:t>Cambridge: Da Capo</a:t>
            </a:r>
          </a:p>
          <a:p>
            <a:pPr marL="0" indent="-457200">
              <a:buNone/>
            </a:pPr>
            <a:r>
              <a:rPr lang="en-CA" i="1" dirty="0"/>
              <a:t>	</a:t>
            </a:r>
            <a:r>
              <a:rPr lang="en-CA" dirty="0" smtClean="0"/>
              <a:t>Press, 2007. Print.</a:t>
            </a:r>
            <a:endParaRPr lang="en-CA" i="1" dirty="0"/>
          </a:p>
          <a:p>
            <a:pPr marL="0" indent="0">
              <a:buNone/>
            </a:pPr>
            <a:endParaRPr lang="en-CA" dirty="0"/>
          </a:p>
        </p:txBody>
      </p:sp>
      <p:sp>
        <p:nvSpPr>
          <p:cNvPr id="3" name="Title 2"/>
          <p:cNvSpPr>
            <a:spLocks noGrp="1"/>
          </p:cNvSpPr>
          <p:nvPr>
            <p:ph type="title"/>
          </p:nvPr>
        </p:nvSpPr>
        <p:spPr/>
        <p:txBody>
          <a:bodyPr/>
          <a:lstStyle/>
          <a:p>
            <a:r>
              <a:rPr lang="en-CA" dirty="0" smtClean="0"/>
              <a:t>Works Cited</a:t>
            </a:r>
            <a:endParaRPr lang="en-CA" dirty="0"/>
          </a:p>
        </p:txBody>
      </p:sp>
    </p:spTree>
    <p:extLst>
      <p:ext uri="{BB962C8B-B14F-4D97-AF65-F5344CB8AC3E}">
        <p14:creationId xmlns:p14="http://schemas.microsoft.com/office/powerpoint/2010/main" val="141675452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Hardcover">
  <a:themeElements>
    <a:clrScheme name="Hardcover">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Hardcover">
      <a:majorFont>
        <a:latin typeface="Book Antiqua"/>
        <a:ea typeface=""/>
        <a:cs typeface=""/>
        <a:font script="Grek" typeface="Times New Roman"/>
        <a:font script="Cyrl" typeface="Times New Roman"/>
        <a:font script="Jpan" typeface="HGS明朝E"/>
        <a:font script="Hang" typeface="궁서"/>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ook Antiqua"/>
        <a:ea typeface=""/>
        <a:cs typeface=""/>
        <a:font script="Grek" typeface="Times New Roman"/>
        <a:font script="Cyrl" typeface="Times New Roman"/>
        <a:font script="Jpan" typeface="HGS明朝E"/>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Hardcover">
      <a:fillStyleLst>
        <a:solidFill>
          <a:schemeClr val="phClr"/>
        </a:solidFill>
        <a:solidFill>
          <a:schemeClr val="phClr">
            <a:tint val="68000"/>
            <a:shade val="94000"/>
            <a:satMod val="300000"/>
            <a:lumMod val="110000"/>
          </a:schemeClr>
        </a:solidFill>
        <a:gradFill rotWithShape="1">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scene3d>
            <a:camera prst="orthographicFront">
              <a:rot lat="0" lon="0" rev="0"/>
            </a:camera>
            <a:lightRig rig="threePt" dir="tl">
              <a:rot lat="0" lon="0" rev="2400000"/>
            </a:lightRig>
          </a:scene3d>
          <a:sp3d>
            <a:bevelT w="25400" h="25400"/>
          </a:sp3d>
        </a:effectStyle>
      </a:effectStyleLst>
      <a:bgFillStyleLst>
        <a:solidFill>
          <a:schemeClr val="phClr">
            <a:tint val="96000"/>
            <a:lumMod val="110000"/>
          </a:schemeClr>
        </a:solidFill>
        <a:blipFill rotWithShape="1">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rotWithShape="1">
          <a:blip xmlns:r="http://schemas.openxmlformats.org/officeDocument/2006/relationships" r:embed="rId2">
            <a:duotone>
              <a:schemeClr val="phClr">
                <a:shade val="50000"/>
                <a:satMod val="340000"/>
                <a:lumMod val="40000"/>
              </a:schemeClr>
              <a:schemeClr val="phClr">
                <a:tint val="92000"/>
                <a:shade val="94000"/>
                <a:hueMod val="110000"/>
                <a:satMod val="236000"/>
                <a:lumMod val="120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Hardcover</Template>
  <TotalTime>395</TotalTime>
  <Words>931</Words>
  <Application>Microsoft Office PowerPoint</Application>
  <PresentationFormat>On-screen Show (4:3)</PresentationFormat>
  <Paragraphs>76</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Hardcover</vt:lpstr>
      <vt:lpstr>Grant Morrison</vt:lpstr>
      <vt:lpstr>Chaos Magician Grant</vt:lpstr>
      <vt:lpstr>Morrison at Disinfo.con New York</vt:lpstr>
      <vt:lpstr>A Little Background</vt:lpstr>
      <vt:lpstr>Inspiration</vt:lpstr>
      <vt:lpstr>Process</vt:lpstr>
      <vt:lpstr>Intent</vt:lpstr>
      <vt:lpstr>Chaos Magic Roots</vt:lpstr>
      <vt:lpstr>Five Principles of Chaos Magic</vt:lpstr>
      <vt:lpstr>Arkham Asylum</vt:lpstr>
      <vt:lpstr>Reception</vt:lpstr>
      <vt:lpstr>Arkham Asylum and Chaos Magic?</vt:lpstr>
      <vt:lpstr>More Chaos</vt:lpstr>
      <vt:lpstr>Works Cited</vt:lpstr>
      <vt:lpstr>Works Cited</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Grant Morrison</dc:title>
  <dc:creator>Bob</dc:creator>
  <cp:lastModifiedBy>Bob</cp:lastModifiedBy>
  <cp:revision>41</cp:revision>
  <dcterms:created xsi:type="dcterms:W3CDTF">2015-10-06T01:18:37Z</dcterms:created>
  <dcterms:modified xsi:type="dcterms:W3CDTF">2015-10-06T07:54:35Z</dcterms:modified>
</cp:coreProperties>
</file>